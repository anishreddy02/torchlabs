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5CE8A2-2832-4610-8F00-9A9F6856BF7F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7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Torch Labs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612C0F-8DB9-417C-A5C9-1724C906C33E}"/>
              </a:ext>
            </a:extLst>
          </p:cNvPr>
          <p:cNvSpPr>
            <a:spLocks noGrp="1"/>
          </p:cNvSpPr>
          <p:nvPr/>
        </p:nvSpPr>
        <p:spPr>
          <a:xfrm>
            <a:off x="733425" y="3143250"/>
            <a:ext cx="107251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CEDCF0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CEDCF0"/>
                </a:solidFill>
                <a:latin typeface="Segoe UI"/>
                <a:ea typeface="Segoe UI"/>
                <a:cs typeface="Segoe UI"/>
              </a:rPr>
              <a:t>Robotics infrastructure for software engineers and AI agents</a:t>
            </a:r>
          </a:p>
        </p:txBody>
      </p:sp>
    </p:spTree>
    <p:extLst>
      <p:ext uri="{BB962C8B-B14F-4D97-AF65-F5344CB8AC3E}">
        <p14:creationId xmlns:p14="http://schemas.microsoft.com/office/powerpoint/2010/main" val="2064414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7AEBD42-0ED2-4670-BCC1-AA7DE7F81AC1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003A6A-9DE4-46DA-A27D-D056F5D67FCD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Robotics infrastructure is fragmented and expensive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F2A978-03FA-431E-8D29-E0402B38C2FD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E54E31-CF1D-49BD-AF5F-C8EA449FCA93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3619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Costly internal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6AAAF-7544-423E-8F7F-62E4B032D419}"/>
              </a:ext>
            </a:extLst>
          </p:cNvPr>
          <p:cNvSpPr>
            <a:spLocks noGrp="1"/>
          </p:cNvSpPr>
          <p:nvPr/>
        </p:nvSpPr>
        <p:spPr>
          <a:xfrm>
            <a:off x="4533900" y="2809875"/>
            <a:ext cx="68770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Teams build and maintain their own infrastructure.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D08B34-0A28-4F9E-9A17-36F20B816E0A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3619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Fragmented tools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DB89B1-B412-49EB-BE4E-E42798962C96}"/>
              </a:ext>
            </a:extLst>
          </p:cNvPr>
          <p:cNvSpPr>
            <a:spLocks noGrp="1"/>
          </p:cNvSpPr>
          <p:nvPr/>
        </p:nvSpPr>
        <p:spPr>
          <a:xfrm>
            <a:off x="4533900" y="3933825"/>
            <a:ext cx="68770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Remote access, testing, and data live in separate systems.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2A2F17-708F-47E8-9C4E-29C5BD87EC6A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3619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A new kind of user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6616C1-7920-42C2-B60F-998C9F7B1B28}"/>
              </a:ext>
            </a:extLst>
          </p:cNvPr>
          <p:cNvSpPr>
            <a:spLocks noGrp="1"/>
          </p:cNvSpPr>
          <p:nvPr/>
        </p:nvSpPr>
        <p:spPr>
          <a:xfrm>
            <a:off x="4533900" y="5057775"/>
            <a:ext cx="68770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AI agents need hardware access with clear limits.</a:t>
            </a:r>
          </a:p>
        </p:txBody>
      </p:sp>
    </p:spTree>
    <p:extLst>
      <p:ext uri="{BB962C8B-B14F-4D97-AF65-F5344CB8AC3E}">
        <p14:creationId xmlns:p14="http://schemas.microsoft.com/office/powerpoint/2010/main" val="790047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6B1FE0A-0D08-4952-B301-DCFBDAB00A0E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MARKET TAILWINDS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100E9D-94A4-4F02-BF5E-FC8AA6867E82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AI agents are moving into physical systems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83CD4-3CEF-482F-BF33-0BF9304D1582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4648F-D656-4473-99E4-CAFFDD455E38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Applied Intuition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AE2602-502C-4DFF-8C92-BD80FDC91703}"/>
              </a:ext>
            </a:extLst>
          </p:cNvPr>
          <p:cNvSpPr>
            <a:spLocks noGrp="1"/>
          </p:cNvSpPr>
          <p:nvPr/>
        </p:nvSpPr>
        <p:spPr>
          <a:xfrm>
            <a:off x="685800" y="3400425"/>
            <a:ext cx="49530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Dana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D41112-FDC4-4583-8F7E-BBC72EA2CB12}"/>
              </a:ext>
            </a:extLst>
          </p:cNvPr>
          <p:cNvSpPr>
            <a:spLocks noGrp="1"/>
          </p:cNvSpPr>
          <p:nvPr/>
        </p:nvSpPr>
        <p:spPr>
          <a:xfrm>
            <a:off x="685800" y="4086225"/>
            <a:ext cx="461962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Agents for physical AI development and testing.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93C333-9615-4858-B1B8-2F18D7BEC2F5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July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F9BAFA-0D28-46F8-8929-AC89FFCCE4BD}"/>
              </a:ext>
            </a:extLst>
          </p:cNvPr>
          <p:cNvSpPr>
            <a:spLocks noGrp="1"/>
          </p:cNvSpPr>
          <p:nvPr/>
        </p:nvSpPr>
        <p:spPr>
          <a:xfrm>
            <a:off x="6715125" y="2800350"/>
            <a:ext cx="4762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Anthropic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434B2B-3425-49E4-A414-E489A9E1F879}"/>
              </a:ext>
            </a:extLst>
          </p:cNvPr>
          <p:cNvSpPr>
            <a:spLocks noGrp="1"/>
          </p:cNvSpPr>
          <p:nvPr/>
        </p:nvSpPr>
        <p:spPr>
          <a:xfrm>
            <a:off x="6715125" y="3400425"/>
            <a:ext cx="47625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Model Hardware Standard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E50D01-EC14-4735-B5D9-830ECA1BB715}"/>
              </a:ext>
            </a:extLst>
          </p:cNvPr>
          <p:cNvSpPr>
            <a:spLocks noGrp="1"/>
          </p:cNvSpPr>
          <p:nvPr/>
        </p:nvSpPr>
        <p:spPr>
          <a:xfrm>
            <a:off x="6715125" y="4086225"/>
            <a:ext cx="463867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A shared specification for agents to operate physical devices.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C488D-8788-4F6E-B63A-DE534B93AF10}"/>
              </a:ext>
            </a:extLst>
          </p:cNvPr>
          <p:cNvSpPr>
            <a:spLocks noGrp="1"/>
          </p:cNvSpPr>
          <p:nvPr/>
        </p:nvSpPr>
        <p:spPr>
          <a:xfrm>
            <a:off x="6715125" y="53149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Research preview, August 2026</a:t>
            </a:r>
          </a:p>
        </p:txBody>
      </p:sp>
    </p:spTree>
    <p:extLst>
      <p:ext uri="{BB962C8B-B14F-4D97-AF65-F5344CB8AC3E}">
        <p14:creationId xmlns:p14="http://schemas.microsoft.com/office/powerpoint/2010/main" val="1069737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CFC608-0684-4907-86B4-BFB9646930B1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60059A-ECB0-4342-96EA-7E211D417FD1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Shared infrastructure for engineers and agents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BEE6A-163E-4DE1-8F47-9426E1498514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B889C-00A3-412F-84FB-333975111C69}"/>
              </a:ext>
            </a:extLst>
          </p:cNvPr>
          <p:cNvSpPr>
            <a:spLocks noGrp="1"/>
          </p:cNvSpPr>
          <p:nvPr/>
        </p:nvSpPr>
        <p:spPr>
          <a:xfrm>
            <a:off x="685800" y="1838325"/>
            <a:ext cx="108204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Access company hardware, run software, and review results in one place.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FB66F-B3D0-4185-B3E6-56B00CB0CBE6}"/>
              </a:ext>
            </a:extLst>
          </p:cNvPr>
          <p:cNvSpPr>
            <a:spLocks noGrp="1"/>
          </p:cNvSpPr>
          <p:nvPr/>
        </p:nvSpPr>
        <p:spPr>
          <a:xfrm>
            <a:off x="685800" y="2790825"/>
            <a:ext cx="10820400" cy="2600325"/>
          </a:xfrm>
          <a:prstGeom prst="rect">
            <a:avLst/>
          </a:prstGeom>
          <a:solidFill>
            <a:srgbClr val="F5F7FB"/>
          </a:solidFill>
          <a:ln w="9525">
            <a:solidFill>
              <a:srgbClr val="DBE3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BE6CC5-846C-4AF7-9B6E-E23C959EFF07}"/>
              </a:ext>
            </a:extLst>
          </p:cNvPr>
          <p:cNvSpPr>
            <a:spLocks noGrp="1"/>
          </p:cNvSpPr>
          <p:nvPr/>
        </p:nvSpPr>
        <p:spPr>
          <a:xfrm>
            <a:off x="952500" y="3867150"/>
            <a:ext cx="102108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[Add screenshot or demo still]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CEAEBB-0C59-4C1E-8DD6-2F5FE0BD8B2E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Engineers decide what their agents can access and do.</a:t>
            </a:r>
          </a:p>
        </p:txBody>
      </p:sp>
    </p:spTree>
    <p:extLst>
      <p:ext uri="{BB962C8B-B14F-4D97-AF65-F5344CB8AC3E}">
        <p14:creationId xmlns:p14="http://schemas.microsoft.com/office/powerpoint/2010/main" val="62133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96A2E3-A05F-490A-B1D6-18891D51799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CUSTOMER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B0C957-8689-42EA-95F9-DE1FC27D1129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More time, money, and talent go into building robots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710385-EEF3-45AC-9E47-266B6933FF59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9117-5E97-469B-AA15-9D24F342819D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Lower overhead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487A73-52B9-441E-A5D7-90E5242F229F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2476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Spend less time and money building internal infrastructure.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EA3D15-5860-49D1-A3DF-2C9796C2717F}"/>
              </a:ext>
            </a:extLst>
          </p:cNvPr>
          <p:cNvSpPr>
            <a:spLocks noGrp="1"/>
          </p:cNvSpPr>
          <p:nvPr/>
        </p:nvSpPr>
        <p:spPr>
          <a:xfrm>
            <a:off x="3467100" y="29527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A wider talent pool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466288-A236-4036-87D0-FD89EABBA402}"/>
              </a:ext>
            </a:extLst>
          </p:cNvPr>
          <p:cNvSpPr>
            <a:spLocks noGrp="1"/>
          </p:cNvSpPr>
          <p:nvPr/>
        </p:nvSpPr>
        <p:spPr>
          <a:xfrm>
            <a:off x="3467100" y="3857625"/>
            <a:ext cx="2476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Give engineers access to company hardware from anywhere.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13B1C5-FB06-42F2-9E8B-CF152767F8F9}"/>
              </a:ext>
            </a:extLst>
          </p:cNvPr>
          <p:cNvSpPr>
            <a:spLocks noGrp="1"/>
          </p:cNvSpPr>
          <p:nvPr/>
        </p:nvSpPr>
        <p:spPr>
          <a:xfrm>
            <a:off x="6248400" y="29527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More capacity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477DA0-C748-4C96-AC06-BB15076F69DC}"/>
              </a:ext>
            </a:extLst>
          </p:cNvPr>
          <p:cNvSpPr>
            <a:spLocks noGrp="1"/>
          </p:cNvSpPr>
          <p:nvPr/>
        </p:nvSpPr>
        <p:spPr>
          <a:xfrm>
            <a:off x="6248400" y="3857625"/>
            <a:ext cx="2476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Let agents take on hardware workflows alongside engineers.</a:t>
            </a:r>
          </a:p>
        </p:txBody>
      </p:sp>
      <p:sp>
        <p:nvSpPr>
          <p:cNvPr id="11" name="Fleet management 11"/>
          <p:cNvSpPr>
            <a:spLocks noGrp="1"/>
          </p:cNvSpPr>
          <p:nvPr/>
        </p:nvSpPr>
        <p:spPr>
          <a:xfrm>
            <a:off x="9029700" y="29527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Fleet management</a:t>
            </a:r>
          </a:p>
        </p:txBody>
      </p:sp>
      <p:sp>
        <p:nvSpPr>
          <p:cNvPr id="12" name="Fleet management 12"/>
          <p:cNvSpPr>
            <a:spLocks noGrp="1"/>
          </p:cNvSpPr>
          <p:nvPr/>
        </p:nvSpPr>
        <p:spPr>
          <a:xfrm>
            <a:off x="9029700" y="3857625"/>
            <a:ext cx="2476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If an asset goes down in the field, Torch can deploy an agent to fix it.</a:t>
            </a:r>
          </a:p>
        </p:txBody>
      </p:sp>
    </p:spTree>
    <p:extLst>
      <p:ext uri="{BB962C8B-B14F-4D97-AF65-F5344CB8AC3E}">
        <p14:creationId xmlns:p14="http://schemas.microsoft.com/office/powerpoint/2010/main" val="37923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5BE517D-DFB1-4137-9C87-12BB3E0908DB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TEAM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26210D-19DC-487E-95BC-BC8AA207CEBE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The team behind Torch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F20188-E967-4424-8AB4-B1081836D4A4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23FF66-B458-41AF-9EA4-554DA87EE5A1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4857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Anish Reddy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ECEA99-550E-4912-8BFE-5A7EEA1A15E1}"/>
              </a:ext>
            </a:extLst>
          </p:cNvPr>
          <p:cNvSpPr>
            <a:spLocks noGrp="1"/>
          </p:cNvSpPr>
          <p:nvPr/>
        </p:nvSpPr>
        <p:spPr>
          <a:xfrm>
            <a:off x="685800" y="3609975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CEO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51DA8D-15D1-4037-9956-8D1350F3C940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48577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Computer science and robotics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FBA99-ED60-4F6D-AEAA-28B3E5237A82}"/>
              </a:ext>
            </a:extLst>
          </p:cNvPr>
          <p:cNvSpPr>
            <a:spLocks noGrp="1"/>
          </p:cNvSpPr>
          <p:nvPr/>
        </p:nvSpPr>
        <p:spPr>
          <a:xfrm>
            <a:off x="6715125" y="276225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Kol Bassuk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8209D7-89B3-43AE-9E99-FA74362D98A5}"/>
              </a:ext>
            </a:extLst>
          </p:cNvPr>
          <p:cNvSpPr>
            <a:spLocks noGrp="1"/>
          </p:cNvSpPr>
          <p:nvPr/>
        </p:nvSpPr>
        <p:spPr>
          <a:xfrm>
            <a:off x="6715125" y="360997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CTO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182759-298C-40AF-BBED-C6E8376EF9D5}"/>
              </a:ext>
            </a:extLst>
          </p:cNvPr>
          <p:cNvSpPr>
            <a:spLocks noGrp="1"/>
          </p:cNvSpPr>
          <p:nvPr/>
        </p:nvSpPr>
        <p:spPr>
          <a:xfrm>
            <a:off x="6715125" y="4419600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Optical engineering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CA4D1B-724E-4935-AACD-23C75D5B1C3D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Met during an internship at Anduril</a:t>
            </a:r>
          </a:p>
        </p:txBody>
      </p:sp>
    </p:spTree>
    <p:extLst>
      <p:ext uri="{BB962C8B-B14F-4D97-AF65-F5344CB8AC3E}">
        <p14:creationId xmlns:p14="http://schemas.microsoft.com/office/powerpoint/2010/main" val="198451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26F7AEF-5B2F-492F-B2F8-E85E126EB107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lang="en-US" sz="112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2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VISION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C04D4-5771-478F-9366-9967705F496D}"/>
              </a:ext>
            </a:extLst>
          </p:cNvPr>
          <p:cNvSpPr>
            <a:spLocks noGrp="1"/>
          </p:cNvSpPr>
          <p:nvPr/>
        </p:nvSpPr>
        <p:spPr>
          <a:xfrm>
            <a:off x="685800" y="1114425"/>
            <a:ext cx="108204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The standard infrastructure for robotics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CF73BA-72B1-4D61-899D-FD1D9DA26DDB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3DFCA7-109C-47A6-9D96-17C23A01C7EC}"/>
              </a:ext>
            </a:extLst>
          </p:cNvPr>
          <p:cNvSpPr>
            <a:spLocks noGrp="1"/>
          </p:cNvSpPr>
          <p:nvPr/>
        </p:nvSpPr>
        <p:spPr>
          <a:xfrm>
            <a:off x="685800" y="2638425"/>
            <a:ext cx="3095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87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Year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D5CD8-577A-4C04-AC84-336F3304512C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309562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Establish the workspace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5C20D9-206E-4192-9CC9-099D4DF9AAC7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3095625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Win startups that need shared hardware access and testing.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AB024B-ACDB-4BC5-959B-90D7F740228E}"/>
              </a:ext>
            </a:extLst>
          </p:cNvPr>
          <p:cNvSpPr>
            <a:spLocks noGrp="1"/>
          </p:cNvSpPr>
          <p:nvPr/>
        </p:nvSpPr>
        <p:spPr>
          <a:xfrm>
            <a:off x="4543425" y="2638425"/>
            <a:ext cx="3095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87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Year </a:t>
            </a:r>
            <a:r>
              <a:rPr lang="en-US" sz="1875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2</a:t>
            </a:r>
            <a:endParaRPr sz="1875" b="0" dirty="0">
              <a:solidFill>
                <a:srgbClr val="356CD5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16A57D-2E1A-4427-9006-2BB113E71E0D}"/>
              </a:ext>
            </a:extLst>
          </p:cNvPr>
          <p:cNvSpPr>
            <a:spLocks noGrp="1"/>
          </p:cNvSpPr>
          <p:nvPr/>
        </p:nvSpPr>
        <p:spPr>
          <a:xfrm>
            <a:off x="4543425" y="3276600"/>
            <a:ext cx="309562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Grow with customers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3A85BB-A4BB-422D-B062-FC3630AAB6A6}"/>
              </a:ext>
            </a:extLst>
          </p:cNvPr>
          <p:cNvSpPr>
            <a:spLocks noGrp="1"/>
          </p:cNvSpPr>
          <p:nvPr/>
        </p:nvSpPr>
        <p:spPr>
          <a:xfrm>
            <a:off x="4543425" y="4286250"/>
            <a:ext cx="3095625" cy="1438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Expand across their teams and hardware fleets. Reach midsize companies.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0A84CE-F64F-4C17-8785-C195E1BEF9A7}"/>
              </a:ext>
            </a:extLst>
          </p:cNvPr>
          <p:cNvSpPr>
            <a:spLocks noGrp="1"/>
          </p:cNvSpPr>
          <p:nvPr/>
        </p:nvSpPr>
        <p:spPr>
          <a:xfrm>
            <a:off x="8391525" y="2638425"/>
            <a:ext cx="3095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sz="187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Years </a:t>
            </a:r>
            <a:r>
              <a:rPr lang="en-US" sz="1875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3+</a:t>
            </a:r>
            <a:endParaRPr sz="1875" b="0" dirty="0">
              <a:solidFill>
                <a:srgbClr val="356CD5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840F48-45F2-4CE5-B363-0B4418B4CB4D}"/>
              </a:ext>
            </a:extLst>
          </p:cNvPr>
          <p:cNvSpPr>
            <a:spLocks noGrp="1"/>
          </p:cNvSpPr>
          <p:nvPr/>
        </p:nvSpPr>
        <p:spPr>
          <a:xfrm>
            <a:off x="8391525" y="3276600"/>
            <a:ext cx="309562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2B4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3"/>
                </a:solidFill>
                <a:latin typeface="Segoe UI"/>
                <a:ea typeface="Segoe UI"/>
                <a:cs typeface="Segoe UI"/>
              </a:rPr>
              <a:t>Become the standard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3842FA-B020-433C-BF0B-46F9631D0F28}"/>
              </a:ext>
            </a:extLst>
          </p:cNvPr>
          <p:cNvSpPr>
            <a:spLocks noGrp="1"/>
          </p:cNvSpPr>
          <p:nvPr/>
        </p:nvSpPr>
        <p:spPr>
          <a:xfrm>
            <a:off x="8391525" y="4286250"/>
            <a:ext cx="3095625" cy="1438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Serve robotics companies across development and deployed operations.</a:t>
            </a:r>
          </a:p>
        </p:txBody>
      </p:sp>
    </p:spTree>
    <p:extLst>
      <p:ext uri="{BB962C8B-B14F-4D97-AF65-F5344CB8AC3E}">
        <p14:creationId xmlns:p14="http://schemas.microsoft.com/office/powerpoint/2010/main" val="43010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26F7AEF-5B2F-492F-B2F8-E85E126EB107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356CD5"/>
                </a:solidFill>
                <a:latin typeface="Segoe UI"/>
                <a:ea typeface="Segoe UI"/>
                <a:cs typeface="Segoe UI"/>
              </a:defRPr>
            </a:pPr>
            <a:r>
              <a:rPr lang="en-US" sz="1125" b="0" dirty="0">
                <a:solidFill>
                  <a:srgbClr val="356CD5"/>
                </a:solidFill>
                <a:latin typeface="Segoe UI"/>
                <a:ea typeface="Segoe UI"/>
                <a:cs typeface="Segoe UI"/>
              </a:rPr>
              <a:t>END GOAL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CF73BA-72B1-4D61-899D-FD1D9DA26DDB}"/>
              </a:ext>
            </a:extLst>
          </p:cNvPr>
          <p:cNvSpPr>
            <a:spLocks noGrp="1"/>
          </p:cNvSpPr>
          <p:nvPr/>
        </p:nvSpPr>
        <p:spPr>
          <a:xfrm>
            <a:off x="10953750" y="42862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3738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37386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C04D4-5771-478F-9366-9967705F496D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108204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172B4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72B43"/>
                </a:solidFill>
                <a:latin typeface="Georgia"/>
                <a:ea typeface="Georgia"/>
                <a:cs typeface="Georgia"/>
              </a:rPr>
              <a:t>Every future robot will be built on this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301048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DocSecurity>0</DocSecurity>
  <PresentationFormat>Widescreen</PresentationFormat>
  <Paragraphs>64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Georgia</vt:lpstr>
      <vt:lpstr>Segoe UI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Kol Bassuk</cp:lastModifiedBy>
  <cp:revision>1</cp:revision>
  <dcterms:created xsi:type="dcterms:W3CDTF">2026-09-07T19:55:52Z</dcterms:created>
  <dcterms:modified xsi:type="dcterms:W3CDTF">2026-09-07T23:39:04Z</dcterms:modified>
</cp:coreProperties>
</file>