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4" r:id="rId15"/>
    <p:sldId id="265" r:id="rId16"/>
    <p:sldId id="266" r:id="rId17"/>
    <p:sldId id="267" r:id="rId18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9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E5CE8A2-2832-4610-8F00-9A9F6856BF7F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1428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780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780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Torch Labs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A612C0F-8DB9-417C-A5C9-1724C906C33E}"/>
              </a:ext>
            </a:extLst>
          </p:cNvPr>
          <p:cNvSpPr>
            <a:spLocks noGrp="1"/>
          </p:cNvSpPr>
          <p:nvPr/>
        </p:nvSpPr>
        <p:spPr>
          <a:xfrm>
            <a:off x="733425" y="3143250"/>
            <a:ext cx="1072515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625" b="0">
                <a:solidFill>
                  <a:srgbClr val="CEDCF0"/>
                </a:solidFill>
                <a:latin typeface="Segoe UI"/>
                <a:ea typeface="Segoe UI"/>
                <a:cs typeface="Segoe UI"/>
              </a:defRPr>
            </a:pPr>
            <a:r>
              <a:rPr sz="2625" b="0">
                <a:solidFill>
                  <a:srgbClr val="CEDCF0"/>
                </a:solidFill>
                <a:latin typeface="Segoe UI"/>
                <a:ea typeface="Segoe UI"/>
                <a:cs typeface="Segoe UI"/>
              </a:rPr>
              <a:t>Robotics infrastructure for software engineers and AI agents</a:t>
            </a:r>
          </a:p>
        </p:txBody>
      </p:sp>
    </p:spTree>
    <p:extLst>
      <p:ext uri="{BB962C8B-B14F-4D97-AF65-F5344CB8AC3E}">
        <p14:creationId xmlns:p14="http://schemas.microsoft.com/office/powerpoint/2010/main" val="20644145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7AEBD42-0ED2-4670-BCC1-AA7DE7F81AC1}"/>
              </a:ext>
            </a:extLst>
          </p:cNvPr>
          <p:cNvSpPr>
            <a:spLocks noGrp="1"/>
          </p:cNvSpPr>
          <p:nvPr/>
        </p:nvSpPr>
        <p:spPr>
          <a:xfrm>
            <a:off x="685800" y="428625"/>
            <a:ext cx="904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356CD5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356CD5"/>
                </a:solidFill>
                <a:latin typeface="Segoe UI"/>
                <a:ea typeface="Segoe UI"/>
                <a:cs typeface="Segoe UI"/>
              </a:rPr>
              <a:t>PROBLEM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003A6A-9DE4-46DA-A27D-D056F5D67FCD}"/>
              </a:ext>
            </a:extLst>
          </p:cNvPr>
          <p:cNvSpPr>
            <a:spLocks noGrp="1"/>
          </p:cNvSpPr>
          <p:nvPr/>
        </p:nvSpPr>
        <p:spPr>
          <a:xfrm>
            <a:off x="685800" y="1114425"/>
            <a:ext cx="10820400" cy="1095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0">
                <a:solidFill>
                  <a:srgbClr val="172B43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172B43"/>
                </a:solidFill>
                <a:latin typeface="Georgia"/>
                <a:ea typeface="Georgia"/>
                <a:cs typeface="Georgia"/>
              </a:rPr>
              <a:t>Robotics infrastructure is fragmented and expensive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F2A978-03FA-431E-8D29-E0402B38C2FD}"/>
              </a:ext>
            </a:extLst>
          </p:cNvPr>
          <p:cNvSpPr>
            <a:spLocks noGrp="1"/>
          </p:cNvSpPr>
          <p:nvPr/>
        </p:nvSpPr>
        <p:spPr>
          <a:xfrm>
            <a:off x="10953750" y="428625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37386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637386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E54E31-CF1D-49BD-AF5F-C8EA449FCA93}"/>
              </a:ext>
            </a:extLst>
          </p:cNvPr>
          <p:cNvSpPr>
            <a:spLocks noGrp="1"/>
          </p:cNvSpPr>
          <p:nvPr/>
        </p:nvSpPr>
        <p:spPr>
          <a:xfrm>
            <a:off x="685800" y="2781300"/>
            <a:ext cx="36195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172B43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172B43"/>
                </a:solidFill>
                <a:latin typeface="Segoe UI"/>
                <a:ea typeface="Segoe UI"/>
                <a:cs typeface="Segoe UI"/>
              </a:rPr>
              <a:t>Costly internal systems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96AAAF-7544-423E-8F7F-62E4B032D419}"/>
              </a:ext>
            </a:extLst>
          </p:cNvPr>
          <p:cNvSpPr>
            <a:spLocks noGrp="1"/>
          </p:cNvSpPr>
          <p:nvPr/>
        </p:nvSpPr>
        <p:spPr>
          <a:xfrm>
            <a:off x="4533900" y="2809875"/>
            <a:ext cx="68770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637386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637386"/>
                </a:solidFill>
                <a:latin typeface="Segoe UI"/>
                <a:ea typeface="Segoe UI"/>
                <a:cs typeface="Segoe UI"/>
              </a:rPr>
              <a:t>Teams build and maintain their own infrastructure.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D08B34-0A28-4F9E-9A17-36F20B816E0A}"/>
              </a:ext>
            </a:extLst>
          </p:cNvPr>
          <p:cNvSpPr>
            <a:spLocks noGrp="1"/>
          </p:cNvSpPr>
          <p:nvPr/>
        </p:nvSpPr>
        <p:spPr>
          <a:xfrm>
            <a:off x="685800" y="3905250"/>
            <a:ext cx="36195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172B43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172B43"/>
                </a:solidFill>
                <a:latin typeface="Segoe UI"/>
                <a:ea typeface="Segoe UI"/>
                <a:cs typeface="Segoe UI"/>
              </a:rPr>
              <a:t>Fragmented tools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DB89B1-B412-49EB-BE4E-E42798962C96}"/>
              </a:ext>
            </a:extLst>
          </p:cNvPr>
          <p:cNvSpPr>
            <a:spLocks noGrp="1"/>
          </p:cNvSpPr>
          <p:nvPr/>
        </p:nvSpPr>
        <p:spPr>
          <a:xfrm>
            <a:off x="4533900" y="3933825"/>
            <a:ext cx="68770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637386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637386"/>
                </a:solidFill>
                <a:latin typeface="Segoe UI"/>
                <a:ea typeface="Segoe UI"/>
                <a:cs typeface="Segoe UI"/>
              </a:rPr>
              <a:t>Remote access, testing, and data live in separate systems.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92A2F17-708F-47E8-9C4E-29C5BD87EC6A}"/>
              </a:ext>
            </a:extLst>
          </p:cNvPr>
          <p:cNvSpPr>
            <a:spLocks noGrp="1"/>
          </p:cNvSpPr>
          <p:nvPr/>
        </p:nvSpPr>
        <p:spPr>
          <a:xfrm>
            <a:off x="685800" y="5029200"/>
            <a:ext cx="36195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172B43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172B43"/>
                </a:solidFill>
                <a:latin typeface="Segoe UI"/>
                <a:ea typeface="Segoe UI"/>
                <a:cs typeface="Segoe UI"/>
              </a:rPr>
              <a:t>A new kind of user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6616C1-7920-42C2-B60F-998C9F7B1B28}"/>
              </a:ext>
            </a:extLst>
          </p:cNvPr>
          <p:cNvSpPr>
            <a:spLocks noGrp="1"/>
          </p:cNvSpPr>
          <p:nvPr/>
        </p:nvSpPr>
        <p:spPr>
          <a:xfrm>
            <a:off x="4533900" y="5057775"/>
            <a:ext cx="68770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637386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637386"/>
                </a:solidFill>
                <a:latin typeface="Segoe UI"/>
                <a:ea typeface="Segoe UI"/>
                <a:cs typeface="Segoe UI"/>
              </a:rPr>
              <a:t>AI agents need hardware access with clear limits.</a:t>
            </a:r>
          </a:p>
        </p:txBody>
      </p:sp>
    </p:spTree>
    <p:extLst>
      <p:ext uri="{BB962C8B-B14F-4D97-AF65-F5344CB8AC3E}">
        <p14:creationId xmlns:p14="http://schemas.microsoft.com/office/powerpoint/2010/main" val="790047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6B1FE0A-0D08-4952-B301-DCFBDAB00A0E}"/>
              </a:ext>
            </a:extLst>
          </p:cNvPr>
          <p:cNvSpPr>
            <a:spLocks noGrp="1"/>
          </p:cNvSpPr>
          <p:nvPr/>
        </p:nvSpPr>
        <p:spPr>
          <a:xfrm>
            <a:off x="685800" y="428625"/>
            <a:ext cx="904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356CD5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356CD5"/>
                </a:solidFill>
                <a:latin typeface="Segoe UI"/>
                <a:ea typeface="Segoe UI"/>
                <a:cs typeface="Segoe UI"/>
              </a:rPr>
              <a:t>MARKET TAILWINDS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6100E9D-94A4-4F02-BF5E-FC8AA6867E82}"/>
              </a:ext>
            </a:extLst>
          </p:cNvPr>
          <p:cNvSpPr>
            <a:spLocks noGrp="1"/>
          </p:cNvSpPr>
          <p:nvPr/>
        </p:nvSpPr>
        <p:spPr>
          <a:xfrm>
            <a:off x="685800" y="1114425"/>
            <a:ext cx="10820400" cy="1095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0">
                <a:solidFill>
                  <a:srgbClr val="172B43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172B43"/>
                </a:solidFill>
                <a:latin typeface="Georgia"/>
                <a:ea typeface="Georgia"/>
                <a:cs typeface="Georgia"/>
              </a:rPr>
              <a:t>AI agents are moving into physical systems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983CD4-3CEF-482F-BF33-0BF9304D1582}"/>
              </a:ext>
            </a:extLst>
          </p:cNvPr>
          <p:cNvSpPr>
            <a:spLocks noGrp="1"/>
          </p:cNvSpPr>
          <p:nvPr/>
        </p:nvSpPr>
        <p:spPr>
          <a:xfrm>
            <a:off x="10953750" y="428625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37386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637386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54648F-D656-4473-99E4-CAFFDD455E38}"/>
              </a:ext>
            </a:extLst>
          </p:cNvPr>
          <p:cNvSpPr>
            <a:spLocks noGrp="1"/>
          </p:cNvSpPr>
          <p:nvPr/>
        </p:nvSpPr>
        <p:spPr>
          <a:xfrm>
            <a:off x="685800" y="2800350"/>
            <a:ext cx="49530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172B43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3"/>
                </a:solidFill>
                <a:latin typeface="Segoe UI"/>
                <a:ea typeface="Segoe UI"/>
                <a:cs typeface="Segoe UI"/>
              </a:rPr>
              <a:t>Applied Intuition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AE2602-502C-4DFF-8C92-BD80FDC91703}"/>
              </a:ext>
            </a:extLst>
          </p:cNvPr>
          <p:cNvSpPr>
            <a:spLocks noGrp="1"/>
          </p:cNvSpPr>
          <p:nvPr/>
        </p:nvSpPr>
        <p:spPr>
          <a:xfrm>
            <a:off x="685800" y="3400425"/>
            <a:ext cx="4953000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356CD5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356CD5"/>
                </a:solidFill>
                <a:latin typeface="Segoe UI"/>
                <a:ea typeface="Segoe UI"/>
                <a:cs typeface="Segoe UI"/>
              </a:rPr>
              <a:t>Dana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D41112-FDC4-4583-8F7E-BBC72EA2CB12}"/>
              </a:ext>
            </a:extLst>
          </p:cNvPr>
          <p:cNvSpPr>
            <a:spLocks noGrp="1"/>
          </p:cNvSpPr>
          <p:nvPr/>
        </p:nvSpPr>
        <p:spPr>
          <a:xfrm>
            <a:off x="685800" y="4086225"/>
            <a:ext cx="4619625" cy="9620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637386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637386"/>
                </a:solidFill>
                <a:latin typeface="Segoe UI"/>
                <a:ea typeface="Segoe UI"/>
                <a:cs typeface="Segoe UI"/>
              </a:rPr>
              <a:t>Agents for physical AI development and testing.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93C333-9615-4858-B1B8-2F18D7BEC2F5}"/>
              </a:ext>
            </a:extLst>
          </p:cNvPr>
          <p:cNvSpPr>
            <a:spLocks noGrp="1"/>
          </p:cNvSpPr>
          <p:nvPr/>
        </p:nvSpPr>
        <p:spPr>
          <a:xfrm>
            <a:off x="685800" y="5314950"/>
            <a:ext cx="4953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37386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637386"/>
                </a:solidFill>
                <a:latin typeface="Segoe UI"/>
                <a:ea typeface="Segoe UI"/>
                <a:cs typeface="Segoe UI"/>
              </a:rPr>
              <a:t>July 2026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F9BAFA-0D28-46F8-8929-AC89FFCCE4BD}"/>
              </a:ext>
            </a:extLst>
          </p:cNvPr>
          <p:cNvSpPr>
            <a:spLocks noGrp="1"/>
          </p:cNvSpPr>
          <p:nvPr/>
        </p:nvSpPr>
        <p:spPr>
          <a:xfrm>
            <a:off x="6715125" y="2800350"/>
            <a:ext cx="4762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172B43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3"/>
                </a:solidFill>
                <a:latin typeface="Segoe UI"/>
                <a:ea typeface="Segoe UI"/>
                <a:cs typeface="Segoe UI"/>
              </a:rPr>
              <a:t>Anthropic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434B2B-3425-49E4-A414-E489A9E1F879}"/>
              </a:ext>
            </a:extLst>
          </p:cNvPr>
          <p:cNvSpPr>
            <a:spLocks noGrp="1"/>
          </p:cNvSpPr>
          <p:nvPr/>
        </p:nvSpPr>
        <p:spPr>
          <a:xfrm>
            <a:off x="6715125" y="3400425"/>
            <a:ext cx="4762500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356CD5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356CD5"/>
                </a:solidFill>
                <a:latin typeface="Segoe UI"/>
                <a:ea typeface="Segoe UI"/>
                <a:cs typeface="Segoe UI"/>
              </a:rPr>
              <a:t>Model Hardware Standard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E50D01-EC14-4735-B5D9-830ECA1BB715}"/>
              </a:ext>
            </a:extLst>
          </p:cNvPr>
          <p:cNvSpPr>
            <a:spLocks noGrp="1"/>
          </p:cNvSpPr>
          <p:nvPr/>
        </p:nvSpPr>
        <p:spPr>
          <a:xfrm>
            <a:off x="6715125" y="4086225"/>
            <a:ext cx="4638675" cy="9620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637386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637386"/>
                </a:solidFill>
                <a:latin typeface="Segoe UI"/>
                <a:ea typeface="Segoe UI"/>
                <a:cs typeface="Segoe UI"/>
              </a:rPr>
              <a:t>A shared specification for agents to operate physical devices.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8C488D-8788-4F6E-B63A-DE534B93AF10}"/>
              </a:ext>
            </a:extLst>
          </p:cNvPr>
          <p:cNvSpPr>
            <a:spLocks noGrp="1"/>
          </p:cNvSpPr>
          <p:nvPr/>
        </p:nvSpPr>
        <p:spPr>
          <a:xfrm>
            <a:off x="6715125" y="5314950"/>
            <a:ext cx="47625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37386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637386"/>
                </a:solidFill>
                <a:latin typeface="Segoe UI"/>
                <a:ea typeface="Segoe UI"/>
                <a:cs typeface="Segoe UI"/>
              </a:rPr>
              <a:t>Research preview, August 2026</a:t>
            </a:r>
          </a:p>
        </p:txBody>
      </p:sp>
    </p:spTree>
    <p:extLst>
      <p:ext uri="{BB962C8B-B14F-4D97-AF65-F5344CB8AC3E}">
        <p14:creationId xmlns:p14="http://schemas.microsoft.com/office/powerpoint/2010/main" val="1069737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8CFC608-0684-4907-86B4-BFB9646930B1}"/>
              </a:ext>
            </a:extLst>
          </p:cNvPr>
          <p:cNvSpPr>
            <a:spLocks noGrp="1"/>
          </p:cNvSpPr>
          <p:nvPr/>
        </p:nvSpPr>
        <p:spPr>
          <a:xfrm>
            <a:off x="685800" y="428625"/>
            <a:ext cx="904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356CD5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356CD5"/>
                </a:solidFill>
                <a:latin typeface="Segoe UI"/>
                <a:ea typeface="Segoe UI"/>
                <a:cs typeface="Segoe UI"/>
              </a:rPr>
              <a:t>SOLUTION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160059A-ECB0-4342-96EA-7E211D417FD1}"/>
              </a:ext>
            </a:extLst>
          </p:cNvPr>
          <p:cNvSpPr>
            <a:spLocks noGrp="1"/>
          </p:cNvSpPr>
          <p:nvPr/>
        </p:nvSpPr>
        <p:spPr>
          <a:xfrm>
            <a:off x="685800" y="1114425"/>
            <a:ext cx="10820400" cy="1095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0">
                <a:solidFill>
                  <a:srgbClr val="172B43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172B43"/>
                </a:solidFill>
                <a:latin typeface="Georgia"/>
                <a:ea typeface="Georgia"/>
                <a:cs typeface="Georgia"/>
              </a:rPr>
              <a:t>Shared infrastructure for engineers and agents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CBEE6A-163E-4DE1-8F47-9426E1498514}"/>
              </a:ext>
            </a:extLst>
          </p:cNvPr>
          <p:cNvSpPr>
            <a:spLocks noGrp="1"/>
          </p:cNvSpPr>
          <p:nvPr/>
        </p:nvSpPr>
        <p:spPr>
          <a:xfrm>
            <a:off x="10953750" y="428625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37386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637386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8B889C-00A3-412F-84FB-333975111C69}"/>
              </a:ext>
            </a:extLst>
          </p:cNvPr>
          <p:cNvSpPr>
            <a:spLocks noGrp="1"/>
          </p:cNvSpPr>
          <p:nvPr/>
        </p:nvSpPr>
        <p:spPr>
          <a:xfrm>
            <a:off x="685800" y="1838325"/>
            <a:ext cx="1082040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637386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637386"/>
                </a:solidFill>
                <a:latin typeface="Segoe UI"/>
                <a:ea typeface="Segoe UI"/>
                <a:cs typeface="Segoe UI"/>
              </a:rPr>
              <a:t>Access company hardware, run software, and review results in one place.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6FB66F-B3D0-4185-B3E6-56B00CB0CBE6}"/>
              </a:ext>
            </a:extLst>
          </p:cNvPr>
          <p:cNvSpPr>
            <a:spLocks noGrp="1"/>
          </p:cNvSpPr>
          <p:nvPr/>
        </p:nvSpPr>
        <p:spPr>
          <a:xfrm>
            <a:off x="685800" y="2790825"/>
            <a:ext cx="10820400" cy="2600325"/>
          </a:xfrm>
          <a:prstGeom prst="rect">
            <a:avLst/>
          </a:prstGeom>
          <a:solidFill>
            <a:srgbClr val="F5F7FB"/>
          </a:solidFill>
          <a:ln w="9525">
            <a:solidFill>
              <a:srgbClr val="DBE3E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CEAEBB-0C59-4C1E-8DD6-2F5FE0BD8B2E}"/>
              </a:ext>
            </a:extLst>
          </p:cNvPr>
          <p:cNvSpPr>
            <a:spLocks noGrp="1"/>
          </p:cNvSpPr>
          <p:nvPr/>
        </p:nvSpPr>
        <p:spPr>
          <a:xfrm>
            <a:off x="685800" y="5876925"/>
            <a:ext cx="108204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356CD5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356CD5"/>
                </a:solidFill>
                <a:latin typeface="Segoe UI"/>
                <a:ea typeface="Segoe UI"/>
                <a:cs typeface="Segoe UI"/>
              </a:rPr>
              <a:t>Engineers decide what their agents can access and 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68296" y="2752344"/>
            <a:ext cx="7461504" cy="2679192"/>
          </a:xfrm>
          <a:prstGeom prst="roundRect">
            <a:avLst/>
          </a:prstGeom>
          <a:solidFill>
            <a:srgbClr val="172B43"/>
          </a:solidFill>
          <a:ln w="12700">
            <a:solidFill>
              <a:srgbClr val="E4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eck-asset-read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4872" y="2788920"/>
            <a:ext cx="7388352" cy="2606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332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96A2E3-A05F-490A-B1D6-18891D517994}"/>
              </a:ext>
            </a:extLst>
          </p:cNvPr>
          <p:cNvSpPr>
            <a:spLocks noGrp="1"/>
          </p:cNvSpPr>
          <p:nvPr/>
        </p:nvSpPr>
        <p:spPr>
          <a:xfrm>
            <a:off x="685800" y="428625"/>
            <a:ext cx="904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356CD5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356CD5"/>
                </a:solidFill>
                <a:latin typeface="Segoe UI"/>
                <a:ea typeface="Segoe UI"/>
                <a:cs typeface="Segoe UI"/>
              </a:rPr>
              <a:t>CUSTOMER VALUE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B0C957-8689-42EA-95F9-DE1FC27D1129}"/>
              </a:ext>
            </a:extLst>
          </p:cNvPr>
          <p:cNvSpPr>
            <a:spLocks noGrp="1"/>
          </p:cNvSpPr>
          <p:nvPr/>
        </p:nvSpPr>
        <p:spPr>
          <a:xfrm>
            <a:off x="685800" y="1114425"/>
            <a:ext cx="10820400" cy="1095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0">
                <a:solidFill>
                  <a:srgbClr val="172B43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172B43"/>
                </a:solidFill>
                <a:latin typeface="Georgia"/>
                <a:ea typeface="Georgia"/>
                <a:cs typeface="Georgia"/>
              </a:rPr>
              <a:t>More time, money, and talent go into building robots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710385-EEF3-45AC-9E47-266B6933FF59}"/>
              </a:ext>
            </a:extLst>
          </p:cNvPr>
          <p:cNvSpPr>
            <a:spLocks noGrp="1"/>
          </p:cNvSpPr>
          <p:nvPr/>
        </p:nvSpPr>
        <p:spPr>
          <a:xfrm>
            <a:off x="10953750" y="428625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37386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637386"/>
                </a:solidFill>
                <a:latin typeface="Segoe UI"/>
                <a:ea typeface="Segoe UI"/>
                <a:cs typeface="Segoe UI"/>
              </a:rPr>
              <a:t>09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909117-5E97-469B-AA15-9D24F342819D}"/>
              </a:ext>
            </a:extLst>
          </p:cNvPr>
          <p:cNvSpPr>
            <a:spLocks noGrp="1"/>
          </p:cNvSpPr>
          <p:nvPr/>
        </p:nvSpPr>
        <p:spPr>
          <a:xfrm>
            <a:off x="685800" y="2952750"/>
            <a:ext cx="2476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72B43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172B43"/>
                </a:solidFill>
                <a:latin typeface="Segoe UI"/>
                <a:ea typeface="Segoe UI"/>
                <a:cs typeface="Segoe UI"/>
              </a:rPr>
              <a:t>Lower overhead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487A73-52B9-441E-A5D7-90E5242F229F}"/>
              </a:ext>
            </a:extLst>
          </p:cNvPr>
          <p:cNvSpPr>
            <a:spLocks noGrp="1"/>
          </p:cNvSpPr>
          <p:nvPr/>
        </p:nvSpPr>
        <p:spPr>
          <a:xfrm>
            <a:off x="685800" y="3857625"/>
            <a:ext cx="2476500" cy="2095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637386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37386"/>
                </a:solidFill>
                <a:latin typeface="Segoe UI"/>
                <a:ea typeface="Segoe UI"/>
                <a:cs typeface="Segoe UI"/>
              </a:rPr>
              <a:t>Spend less time and money building internal infrastructure.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EA3D15-5860-49D1-A3DF-2C9796C2717F}"/>
              </a:ext>
            </a:extLst>
          </p:cNvPr>
          <p:cNvSpPr>
            <a:spLocks noGrp="1"/>
          </p:cNvSpPr>
          <p:nvPr/>
        </p:nvSpPr>
        <p:spPr>
          <a:xfrm>
            <a:off x="3467100" y="2952750"/>
            <a:ext cx="2476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72B43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172B43"/>
                </a:solidFill>
                <a:latin typeface="Segoe UI"/>
                <a:ea typeface="Segoe UI"/>
                <a:cs typeface="Segoe UI"/>
              </a:rPr>
              <a:t>A wider talent pool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466288-A236-4036-87D0-FD89EABBA402}"/>
              </a:ext>
            </a:extLst>
          </p:cNvPr>
          <p:cNvSpPr>
            <a:spLocks noGrp="1"/>
          </p:cNvSpPr>
          <p:nvPr/>
        </p:nvSpPr>
        <p:spPr>
          <a:xfrm>
            <a:off x="3467100" y="3857625"/>
            <a:ext cx="2476500" cy="2095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637386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37386"/>
                </a:solidFill>
                <a:latin typeface="Segoe UI"/>
                <a:ea typeface="Segoe UI"/>
                <a:cs typeface="Segoe UI"/>
              </a:rPr>
              <a:t>Give engineers access to company hardware from anywhere.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813B1C5-FB06-42F2-9E8B-CF152767F8F9}"/>
              </a:ext>
            </a:extLst>
          </p:cNvPr>
          <p:cNvSpPr>
            <a:spLocks noGrp="1"/>
          </p:cNvSpPr>
          <p:nvPr/>
        </p:nvSpPr>
        <p:spPr>
          <a:xfrm>
            <a:off x="6248400" y="2952750"/>
            <a:ext cx="2476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72B43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172B43"/>
                </a:solidFill>
                <a:latin typeface="Segoe UI"/>
                <a:ea typeface="Segoe UI"/>
                <a:cs typeface="Segoe UI"/>
              </a:rPr>
              <a:t>More capacity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E477DA0-C748-4C96-AC06-BB15076F69DC}"/>
              </a:ext>
            </a:extLst>
          </p:cNvPr>
          <p:cNvSpPr>
            <a:spLocks noGrp="1"/>
          </p:cNvSpPr>
          <p:nvPr/>
        </p:nvSpPr>
        <p:spPr>
          <a:xfrm>
            <a:off x="6248400" y="3857625"/>
            <a:ext cx="2476500" cy="2095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637386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37386"/>
                </a:solidFill>
                <a:latin typeface="Segoe UI"/>
                <a:ea typeface="Segoe UI"/>
                <a:cs typeface="Segoe UI"/>
              </a:rPr>
              <a:t>Let agents take on hardware workflows alongside engineers.</a:t>
            </a:r>
          </a:p>
        </p:txBody>
      </p:sp>
      <p:sp>
        <p:nvSpPr>
          <p:cNvPr id="11" name="Fleet management 11"/>
          <p:cNvSpPr>
            <a:spLocks noGrp="1"/>
          </p:cNvSpPr>
          <p:nvPr/>
        </p:nvSpPr>
        <p:spPr>
          <a:xfrm>
            <a:off x="9029700" y="2952750"/>
            <a:ext cx="2476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72B43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172B43"/>
                </a:solidFill>
                <a:latin typeface="Segoe UI"/>
                <a:ea typeface="Segoe UI"/>
                <a:cs typeface="Segoe UI"/>
              </a:rPr>
              <a:t>Fleet management</a:t>
            </a:r>
          </a:p>
        </p:txBody>
      </p:sp>
      <p:sp>
        <p:nvSpPr>
          <p:cNvPr id="12" name="Fleet management 12"/>
          <p:cNvSpPr>
            <a:spLocks noGrp="1"/>
          </p:cNvSpPr>
          <p:nvPr/>
        </p:nvSpPr>
        <p:spPr>
          <a:xfrm>
            <a:off x="9029700" y="3857625"/>
            <a:ext cx="2476500" cy="2095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637386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37386"/>
                </a:solidFill>
                <a:latin typeface="Segoe UI"/>
                <a:ea typeface="Segoe UI"/>
                <a:cs typeface="Segoe UI"/>
              </a:rPr>
              <a:t>If an asset goes down in the field, Torch can deploy an agent to fix it.</a:t>
            </a:r>
          </a:p>
        </p:txBody>
      </p:sp>
    </p:spTree>
    <p:extLst>
      <p:ext uri="{BB962C8B-B14F-4D97-AF65-F5344CB8AC3E}">
        <p14:creationId xmlns:p14="http://schemas.microsoft.com/office/powerpoint/2010/main" val="379236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5BE517D-DFB1-4137-9C87-12BB3E0908DB}"/>
              </a:ext>
            </a:extLst>
          </p:cNvPr>
          <p:cNvSpPr>
            <a:spLocks noGrp="1"/>
          </p:cNvSpPr>
          <p:nvPr/>
        </p:nvSpPr>
        <p:spPr>
          <a:xfrm>
            <a:off x="685800" y="428625"/>
            <a:ext cx="904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356CD5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356CD5"/>
                </a:solidFill>
                <a:latin typeface="Segoe UI"/>
                <a:ea typeface="Segoe UI"/>
                <a:cs typeface="Segoe UI"/>
              </a:rPr>
              <a:t>TEAM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26210D-19DC-487E-95BC-BC8AA207CEBE}"/>
              </a:ext>
            </a:extLst>
          </p:cNvPr>
          <p:cNvSpPr>
            <a:spLocks noGrp="1"/>
          </p:cNvSpPr>
          <p:nvPr/>
        </p:nvSpPr>
        <p:spPr>
          <a:xfrm>
            <a:off x="685800" y="1114425"/>
            <a:ext cx="10820400" cy="1095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0">
                <a:solidFill>
                  <a:srgbClr val="172B43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172B43"/>
                </a:solidFill>
                <a:latin typeface="Georgia"/>
                <a:ea typeface="Georgia"/>
                <a:cs typeface="Georgia"/>
              </a:rPr>
              <a:t>The team behind Torch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F20188-E967-4424-8AB4-B1081836D4A4}"/>
              </a:ext>
            </a:extLst>
          </p:cNvPr>
          <p:cNvSpPr>
            <a:spLocks noGrp="1"/>
          </p:cNvSpPr>
          <p:nvPr/>
        </p:nvSpPr>
        <p:spPr>
          <a:xfrm>
            <a:off x="10953750" y="428625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37386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637386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23FF66-B458-41AF-9EA4-554DA87EE5A1}"/>
              </a:ext>
            </a:extLst>
          </p:cNvPr>
          <p:cNvSpPr>
            <a:spLocks noGrp="1"/>
          </p:cNvSpPr>
          <p:nvPr/>
        </p:nvSpPr>
        <p:spPr>
          <a:xfrm>
            <a:off x="685800" y="2762250"/>
            <a:ext cx="485775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2B43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172B43"/>
                </a:solidFill>
                <a:latin typeface="Georgia"/>
                <a:ea typeface="Georgia"/>
                <a:cs typeface="Georgia"/>
              </a:rPr>
              <a:t>Anish Reddy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ECEA99-550E-4912-8BFE-5A7EEA1A15E1}"/>
              </a:ext>
            </a:extLst>
          </p:cNvPr>
          <p:cNvSpPr>
            <a:spLocks noGrp="1"/>
          </p:cNvSpPr>
          <p:nvPr/>
        </p:nvSpPr>
        <p:spPr>
          <a:xfrm>
            <a:off x="685800" y="3609975"/>
            <a:ext cx="4857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356CD5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356CD5"/>
                </a:solidFill>
                <a:latin typeface="Segoe UI"/>
                <a:ea typeface="Segoe UI"/>
                <a:cs typeface="Segoe UI"/>
              </a:rPr>
              <a:t>CEO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51DA8D-15D1-4037-9956-8D1350F3C940}"/>
              </a:ext>
            </a:extLst>
          </p:cNvPr>
          <p:cNvSpPr>
            <a:spLocks noGrp="1"/>
          </p:cNvSpPr>
          <p:nvPr/>
        </p:nvSpPr>
        <p:spPr>
          <a:xfrm>
            <a:off x="685800" y="4419600"/>
            <a:ext cx="48577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637386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637386"/>
                </a:solidFill>
                <a:latin typeface="Segoe UI"/>
                <a:ea typeface="Segoe UI"/>
                <a:cs typeface="Segoe UI"/>
              </a:rPr>
              <a:t>Computer science and robotics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E1FBA99-ED60-4F6D-AEAA-28B3E5237A82}"/>
              </a:ext>
            </a:extLst>
          </p:cNvPr>
          <p:cNvSpPr>
            <a:spLocks noGrp="1"/>
          </p:cNvSpPr>
          <p:nvPr/>
        </p:nvSpPr>
        <p:spPr>
          <a:xfrm>
            <a:off x="6715125" y="2762250"/>
            <a:ext cx="47625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2B43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172B43"/>
                </a:solidFill>
                <a:latin typeface="Georgia"/>
                <a:ea typeface="Georgia"/>
                <a:cs typeface="Georgia"/>
              </a:rPr>
              <a:t>Kol Bassuk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8209D7-89B3-43AE-9E99-FA74362D98A5}"/>
              </a:ext>
            </a:extLst>
          </p:cNvPr>
          <p:cNvSpPr>
            <a:spLocks noGrp="1"/>
          </p:cNvSpPr>
          <p:nvPr/>
        </p:nvSpPr>
        <p:spPr>
          <a:xfrm>
            <a:off x="6715125" y="3609975"/>
            <a:ext cx="47625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356CD5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356CD5"/>
                </a:solidFill>
                <a:latin typeface="Segoe UI"/>
                <a:ea typeface="Segoe UI"/>
                <a:cs typeface="Segoe UI"/>
              </a:rPr>
              <a:t>CTO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182759-298C-40AF-BBED-C6E8376EF9D5}"/>
              </a:ext>
            </a:extLst>
          </p:cNvPr>
          <p:cNvSpPr>
            <a:spLocks noGrp="1"/>
          </p:cNvSpPr>
          <p:nvPr/>
        </p:nvSpPr>
        <p:spPr>
          <a:xfrm>
            <a:off x="6715125" y="4419600"/>
            <a:ext cx="47625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637386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637386"/>
                </a:solidFill>
                <a:latin typeface="Segoe UI"/>
                <a:ea typeface="Segoe UI"/>
                <a:cs typeface="Segoe UI"/>
              </a:rPr>
              <a:t>Optical engineering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1CA4D1B-724E-4935-AACD-23C75D5B1C3D}"/>
              </a:ext>
            </a:extLst>
          </p:cNvPr>
          <p:cNvSpPr>
            <a:spLocks noGrp="1"/>
          </p:cNvSpPr>
          <p:nvPr/>
        </p:nvSpPr>
        <p:spPr>
          <a:xfrm>
            <a:off x="685800" y="5762625"/>
            <a:ext cx="108204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B43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172B43"/>
                </a:solidFill>
                <a:latin typeface="Segoe UI"/>
                <a:ea typeface="Segoe UI"/>
                <a:cs typeface="Segoe UI"/>
              </a:rPr>
              <a:t>Met during an internship at Anduril</a:t>
            </a:r>
          </a:p>
        </p:txBody>
      </p:sp>
    </p:spTree>
    <p:extLst>
      <p:ext uri="{BB962C8B-B14F-4D97-AF65-F5344CB8AC3E}">
        <p14:creationId xmlns:p14="http://schemas.microsoft.com/office/powerpoint/2010/main" val="19845144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26F7AEF-5B2F-492F-B2F8-E85E126EB107}"/>
              </a:ext>
            </a:extLst>
          </p:cNvPr>
          <p:cNvSpPr>
            <a:spLocks noGrp="1"/>
          </p:cNvSpPr>
          <p:nvPr/>
        </p:nvSpPr>
        <p:spPr>
          <a:xfrm>
            <a:off x="685800" y="428625"/>
            <a:ext cx="904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356CD5"/>
                </a:solidFill>
                <a:latin typeface="Segoe UI"/>
                <a:ea typeface="Segoe UI"/>
                <a:cs typeface="Segoe UI"/>
              </a:defRPr>
            </a:pPr>
            <a:r>
              <a:rPr lang="en-US" sz="1125" b="0" dirty="0">
                <a:solidFill>
                  <a:srgbClr val="356CD5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125" b="0" dirty="0">
                <a:solidFill>
                  <a:srgbClr val="356CD5"/>
                </a:solidFill>
                <a:latin typeface="Segoe UI"/>
                <a:ea typeface="Segoe UI"/>
                <a:cs typeface="Segoe UI"/>
              </a:rPr>
              <a:t>VISION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4C04D4-5771-478F-9366-9967705F496D}"/>
              </a:ext>
            </a:extLst>
          </p:cNvPr>
          <p:cNvSpPr>
            <a:spLocks noGrp="1"/>
          </p:cNvSpPr>
          <p:nvPr/>
        </p:nvSpPr>
        <p:spPr>
          <a:xfrm>
            <a:off x="685800" y="1114425"/>
            <a:ext cx="10820400" cy="1095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0">
                <a:solidFill>
                  <a:srgbClr val="172B43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172B43"/>
                </a:solidFill>
                <a:latin typeface="Georgia"/>
                <a:ea typeface="Georgia"/>
                <a:cs typeface="Georgia"/>
              </a:rPr>
              <a:t>The standard infrastructure for robotics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CF73BA-72B1-4D61-899D-FD1D9DA26DDB}"/>
              </a:ext>
            </a:extLst>
          </p:cNvPr>
          <p:cNvSpPr>
            <a:spLocks noGrp="1"/>
          </p:cNvSpPr>
          <p:nvPr/>
        </p:nvSpPr>
        <p:spPr>
          <a:xfrm>
            <a:off x="10953750" y="428625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37386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637386"/>
                </a:solidFill>
                <a:latin typeface="Segoe UI"/>
                <a:ea typeface="Segoe UI"/>
                <a:cs typeface="Segoe UI"/>
              </a:rPr>
              <a:t>11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3DFCA7-109C-47A6-9D96-17C23A01C7EC}"/>
              </a:ext>
            </a:extLst>
          </p:cNvPr>
          <p:cNvSpPr>
            <a:spLocks noGrp="1"/>
          </p:cNvSpPr>
          <p:nvPr/>
        </p:nvSpPr>
        <p:spPr>
          <a:xfrm>
            <a:off x="685800" y="2638425"/>
            <a:ext cx="309562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356CD5"/>
                </a:solidFill>
                <a:latin typeface="Segoe UI"/>
                <a:ea typeface="Segoe UI"/>
                <a:cs typeface="Segoe UI"/>
              </a:defRPr>
            </a:pPr>
            <a:r>
              <a:rPr sz="1875" b="0" dirty="0">
                <a:solidFill>
                  <a:srgbClr val="356CD5"/>
                </a:solidFill>
                <a:latin typeface="Segoe UI"/>
                <a:ea typeface="Segoe UI"/>
                <a:cs typeface="Segoe UI"/>
              </a:rPr>
              <a:t>Year 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2D5CD8-577A-4C04-AC84-336F3304512C}"/>
              </a:ext>
            </a:extLst>
          </p:cNvPr>
          <p:cNvSpPr>
            <a:spLocks noGrp="1"/>
          </p:cNvSpPr>
          <p:nvPr/>
        </p:nvSpPr>
        <p:spPr>
          <a:xfrm>
            <a:off x="685800" y="3276600"/>
            <a:ext cx="3095625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172B43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3"/>
                </a:solidFill>
                <a:latin typeface="Segoe UI"/>
                <a:ea typeface="Segoe UI"/>
                <a:cs typeface="Segoe UI"/>
              </a:rPr>
              <a:t>Establish the workspace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5C20D9-206E-4192-9CC9-099D4DF9AAC7}"/>
              </a:ext>
            </a:extLst>
          </p:cNvPr>
          <p:cNvSpPr>
            <a:spLocks noGrp="1"/>
          </p:cNvSpPr>
          <p:nvPr/>
        </p:nvSpPr>
        <p:spPr>
          <a:xfrm>
            <a:off x="685800" y="4286250"/>
            <a:ext cx="3095625" cy="11525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637386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637386"/>
                </a:solidFill>
                <a:latin typeface="Segoe UI"/>
                <a:ea typeface="Segoe UI"/>
                <a:cs typeface="Segoe UI"/>
              </a:rPr>
              <a:t>Win startups that need shared hardware access and testing.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AB024B-ACDB-4BC5-959B-90D7F740228E}"/>
              </a:ext>
            </a:extLst>
          </p:cNvPr>
          <p:cNvSpPr>
            <a:spLocks noGrp="1"/>
          </p:cNvSpPr>
          <p:nvPr/>
        </p:nvSpPr>
        <p:spPr>
          <a:xfrm>
            <a:off x="4543425" y="2638425"/>
            <a:ext cx="309562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356CD5"/>
                </a:solidFill>
                <a:latin typeface="Segoe UI"/>
                <a:ea typeface="Segoe UI"/>
                <a:cs typeface="Segoe UI"/>
              </a:defRPr>
            </a:pPr>
            <a:r>
              <a:rPr sz="1875" b="0" dirty="0">
                <a:solidFill>
                  <a:srgbClr val="356CD5"/>
                </a:solidFill>
                <a:latin typeface="Segoe UI"/>
                <a:ea typeface="Segoe UI"/>
                <a:cs typeface="Segoe UI"/>
              </a:rPr>
              <a:t>Year </a:t>
            </a:r>
            <a:r>
              <a:rPr lang="en-US" sz="1875" dirty="0">
                <a:solidFill>
                  <a:srgbClr val="356CD5"/>
                </a:solidFill>
                <a:latin typeface="Segoe UI"/>
                <a:ea typeface="Segoe UI"/>
                <a:cs typeface="Segoe UI"/>
              </a:rPr>
              <a:t>2</a:t>
            </a:r>
            <a:endParaRPr sz="1875" b="0" dirty="0">
              <a:solidFill>
                <a:srgbClr val="356CD5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16A57D-2E1A-4427-9006-2BB113E71E0D}"/>
              </a:ext>
            </a:extLst>
          </p:cNvPr>
          <p:cNvSpPr>
            <a:spLocks noGrp="1"/>
          </p:cNvSpPr>
          <p:nvPr/>
        </p:nvSpPr>
        <p:spPr>
          <a:xfrm>
            <a:off x="4543425" y="3276600"/>
            <a:ext cx="3095625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172B43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3"/>
                </a:solidFill>
                <a:latin typeface="Segoe UI"/>
                <a:ea typeface="Segoe UI"/>
                <a:cs typeface="Segoe UI"/>
              </a:rPr>
              <a:t>Grow with customers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3A85BB-A4BB-422D-B062-FC3630AAB6A6}"/>
              </a:ext>
            </a:extLst>
          </p:cNvPr>
          <p:cNvSpPr>
            <a:spLocks noGrp="1"/>
          </p:cNvSpPr>
          <p:nvPr/>
        </p:nvSpPr>
        <p:spPr>
          <a:xfrm>
            <a:off x="4543425" y="4286250"/>
            <a:ext cx="3095625" cy="1438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637386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637386"/>
                </a:solidFill>
                <a:latin typeface="Segoe UI"/>
                <a:ea typeface="Segoe UI"/>
                <a:cs typeface="Segoe UI"/>
              </a:rPr>
              <a:t>Expand across their teams and hardware fleets. Reach midsize companies.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0A84CE-F64F-4C17-8785-C195E1BEF9A7}"/>
              </a:ext>
            </a:extLst>
          </p:cNvPr>
          <p:cNvSpPr>
            <a:spLocks noGrp="1"/>
          </p:cNvSpPr>
          <p:nvPr/>
        </p:nvSpPr>
        <p:spPr>
          <a:xfrm>
            <a:off x="8391525" y="2638425"/>
            <a:ext cx="309562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356CD5"/>
                </a:solidFill>
                <a:latin typeface="Segoe UI"/>
                <a:ea typeface="Segoe UI"/>
                <a:cs typeface="Segoe UI"/>
              </a:defRPr>
            </a:pPr>
            <a:r>
              <a:rPr sz="1875" b="0" dirty="0">
                <a:solidFill>
                  <a:srgbClr val="356CD5"/>
                </a:solidFill>
                <a:latin typeface="Segoe UI"/>
                <a:ea typeface="Segoe UI"/>
                <a:cs typeface="Segoe UI"/>
              </a:rPr>
              <a:t>Years </a:t>
            </a:r>
            <a:r>
              <a:rPr lang="en-US" sz="1875" dirty="0">
                <a:solidFill>
                  <a:srgbClr val="356CD5"/>
                </a:solidFill>
                <a:latin typeface="Segoe UI"/>
                <a:ea typeface="Segoe UI"/>
                <a:cs typeface="Segoe UI"/>
              </a:rPr>
              <a:t>3+</a:t>
            </a:r>
            <a:endParaRPr sz="1875" b="0" dirty="0">
              <a:solidFill>
                <a:srgbClr val="356CD5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840F48-45F2-4CE5-B363-0B4418B4CB4D}"/>
              </a:ext>
            </a:extLst>
          </p:cNvPr>
          <p:cNvSpPr>
            <a:spLocks noGrp="1"/>
          </p:cNvSpPr>
          <p:nvPr/>
        </p:nvSpPr>
        <p:spPr>
          <a:xfrm>
            <a:off x="8391525" y="3276600"/>
            <a:ext cx="3095625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172B43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3"/>
                </a:solidFill>
                <a:latin typeface="Segoe UI"/>
                <a:ea typeface="Segoe UI"/>
                <a:cs typeface="Segoe UI"/>
              </a:rPr>
              <a:t>Become the standard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3842FA-B020-433C-BF0B-46F9631D0F28}"/>
              </a:ext>
            </a:extLst>
          </p:cNvPr>
          <p:cNvSpPr>
            <a:spLocks noGrp="1"/>
          </p:cNvSpPr>
          <p:nvPr/>
        </p:nvSpPr>
        <p:spPr>
          <a:xfrm>
            <a:off x="8391525" y="4286250"/>
            <a:ext cx="3095625" cy="1438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637386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637386"/>
                </a:solidFill>
                <a:latin typeface="Segoe UI"/>
                <a:ea typeface="Segoe UI"/>
                <a:cs typeface="Segoe UI"/>
              </a:rPr>
              <a:t>Serve robotics companies across development and deployed operations.</a:t>
            </a:r>
          </a:p>
        </p:txBody>
      </p:sp>
    </p:spTree>
    <p:extLst>
      <p:ext uri="{BB962C8B-B14F-4D97-AF65-F5344CB8AC3E}">
        <p14:creationId xmlns:p14="http://schemas.microsoft.com/office/powerpoint/2010/main" val="430104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26F7AEF-5B2F-492F-B2F8-E85E126EB107}"/>
              </a:ext>
            </a:extLst>
          </p:cNvPr>
          <p:cNvSpPr>
            <a:spLocks noGrp="1"/>
          </p:cNvSpPr>
          <p:nvPr/>
        </p:nvSpPr>
        <p:spPr>
          <a:xfrm>
            <a:off x="685800" y="428625"/>
            <a:ext cx="904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356CD5"/>
                </a:solidFill>
                <a:latin typeface="Segoe UI"/>
                <a:ea typeface="Segoe UI"/>
                <a:cs typeface="Segoe UI"/>
              </a:defRPr>
            </a:pPr>
            <a:r>
              <a:rPr lang="en-US" sz="1125" b="0" dirty="0">
                <a:solidFill>
                  <a:srgbClr val="356CD5"/>
                </a:solidFill>
                <a:latin typeface="Segoe UI"/>
                <a:ea typeface="Segoe UI"/>
                <a:cs typeface="Segoe UI"/>
              </a:rPr>
              <a:t>END GOAL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CF73BA-72B1-4D61-899D-FD1D9DA26DDB}"/>
              </a:ext>
            </a:extLst>
          </p:cNvPr>
          <p:cNvSpPr>
            <a:spLocks noGrp="1"/>
          </p:cNvSpPr>
          <p:nvPr/>
        </p:nvSpPr>
        <p:spPr>
          <a:xfrm>
            <a:off x="10953750" y="428625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37386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637386"/>
                </a:solidFill>
                <a:latin typeface="Segoe UI"/>
                <a:ea typeface="Segoe UI"/>
                <a:cs typeface="Segoe UI"/>
              </a:rPr>
              <a:t>12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4C04D4-5771-478F-9366-9967705F496D}"/>
              </a:ext>
            </a:extLst>
          </p:cNvPr>
          <p:cNvSpPr>
            <a:spLocks noGrp="1"/>
          </p:cNvSpPr>
          <p:nvPr/>
        </p:nvSpPr>
        <p:spPr>
          <a:xfrm>
            <a:off x="685800" y="2914650"/>
            <a:ext cx="10820400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0">
                <a:solidFill>
                  <a:srgbClr val="172B43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172B43"/>
                </a:solidFill>
                <a:latin typeface="Georgia"/>
                <a:ea typeface="Georgia"/>
                <a:cs typeface="Georgia"/>
              </a:rPr>
              <a:t>Every future robot will be built on this infrastructure.</a:t>
            </a:r>
          </a:p>
        </p:txBody>
      </p:sp>
    </p:spTree>
    <p:extLst>
      <p:ext uri="{BB962C8B-B14F-4D97-AF65-F5344CB8AC3E}">
        <p14:creationId xmlns:p14="http://schemas.microsoft.com/office/powerpoint/2010/main" val="430104818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10896"/>
            <a:ext cx="80467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0">
                <a:solidFill>
                  <a:srgbClr val="356CD5"/>
                </a:solidFill>
                <a:latin typeface="Segoe UI"/>
              </a:rPr>
              <a:t>PRODUCT · 1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310896"/>
            <a:ext cx="59436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25" b="0">
                <a:solidFill>
                  <a:srgbClr val="356CD5"/>
                </a:solidFill>
                <a:latin typeface="Segoe U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8992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000" b="0">
                <a:solidFill>
                  <a:srgbClr val="172B43"/>
                </a:solidFill>
                <a:latin typeface="Georgia"/>
              </a:rPr>
              <a:t>The operator defines the mission and the limits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35024"/>
            <a:ext cx="1069848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5D6B7A"/>
                </a:solidFill>
                <a:latin typeface="Segoe UI"/>
              </a:rPr>
              <a:t>Choose the asset, deadline, failure policy, and objective before the agent acts.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810512"/>
            <a:ext cx="10817352" cy="4599432"/>
          </a:xfrm>
          <a:prstGeom prst="roundRect">
            <a:avLst/>
          </a:prstGeom>
          <a:solidFill>
            <a:srgbClr val="172B43"/>
          </a:solidFill>
          <a:ln w="12700">
            <a:solidFill>
              <a:srgbClr val="E4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eck-mission-contr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47088"/>
            <a:ext cx="1074420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10896"/>
            <a:ext cx="80467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0">
                <a:solidFill>
                  <a:srgbClr val="356CD5"/>
                </a:solidFill>
                <a:latin typeface="Segoe UI"/>
              </a:rPr>
              <a:t>PRODUCT · 2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310896"/>
            <a:ext cx="59436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25" b="0">
                <a:solidFill>
                  <a:srgbClr val="356CD5"/>
                </a:solidFill>
                <a:latin typeface="Segoe U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8992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000" b="0">
                <a:solidFill>
                  <a:srgbClr val="172B43"/>
                </a:solidFill>
                <a:latin typeface="Georgia"/>
              </a:rPr>
              <a:t>Software changes stop for human approval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35024"/>
            <a:ext cx="1069848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5D6B7A"/>
                </a:solidFill>
                <a:latin typeface="Segoe UI"/>
              </a:rPr>
              <a:t>Torch shows the exact asset, workflow, bundle, reason, and SHA before deployment.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810512"/>
            <a:ext cx="10817352" cy="4599432"/>
          </a:xfrm>
          <a:prstGeom prst="roundRect">
            <a:avLst/>
          </a:prstGeom>
          <a:solidFill>
            <a:srgbClr val="172B43"/>
          </a:solidFill>
          <a:ln w="12700">
            <a:solidFill>
              <a:srgbClr val="E4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eck-appro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47088"/>
            <a:ext cx="1074420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10896"/>
            <a:ext cx="80467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0">
                <a:solidFill>
                  <a:srgbClr val="356CD5"/>
                </a:solidFill>
                <a:latin typeface="Segoe UI"/>
              </a:rPr>
              <a:t>PRODUCT · 3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310896"/>
            <a:ext cx="59436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25" b="0">
                <a:solidFill>
                  <a:srgbClr val="356CD5"/>
                </a:solidFill>
                <a:latin typeface="Segoe U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8992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000" b="0">
                <a:solidFill>
                  <a:srgbClr val="172B43"/>
                </a:solidFill>
                <a:latin typeface="Georgia"/>
              </a:rPr>
              <a:t>Existing workflows run on real hardware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35024"/>
            <a:ext cx="1069848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5D6B7A"/>
                </a:solidFill>
                <a:latin typeface="Segoe UI"/>
              </a:rPr>
              <a:t>The node streams stdout, persists every step, attempts cleanup, and collects artifacts.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84831"/>
            <a:ext cx="246888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356CD5"/>
                </a:solidFill>
                <a:latin typeface="Segoe UI"/>
              </a:rPr>
              <a:t>PREPARE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50008"/>
            <a:ext cx="2468880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900" b="0">
                <a:solidFill>
                  <a:srgbClr val="172B43"/>
                </a:solidFill>
                <a:latin typeface="Georgia"/>
              </a:rPr>
              <a:t>Inspect 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246888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356CD5"/>
                </a:solidFill>
                <a:latin typeface="Segoe UI"/>
              </a:rPr>
              <a:t>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36976"/>
            <a:ext cx="2651760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900" b="0">
                <a:solidFill>
                  <a:srgbClr val="172B43"/>
                </a:solidFill>
                <a:latin typeface="Georgia"/>
              </a:rPr>
              <a:t>Localization fails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58768"/>
            <a:ext cx="246888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356CD5"/>
                </a:solidFill>
                <a:latin typeface="Segoe UI"/>
              </a:rPr>
              <a:t>CLEANUP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23944"/>
            <a:ext cx="2468880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900" b="0">
                <a:solidFill>
                  <a:srgbClr val="172B43"/>
                </a:solidFill>
                <a:latin typeface="Georgia"/>
              </a:rPr>
              <a:t>Still runs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44952" y="2350008"/>
            <a:ext cx="320040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3BD18B"/>
                </a:solidFill>
                <a:latin typeface="Segoe U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4952" y="3236976"/>
            <a:ext cx="320040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E85D68"/>
                </a:solidFill>
                <a:latin typeface="Segoe UI"/>
              </a:rPr>
              <a:t>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4952" y="4123944"/>
            <a:ext cx="320040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3BD18B"/>
                </a:solidFill>
                <a:latin typeface="Segoe UI"/>
              </a:rPr>
              <a:t>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21024" y="1837943"/>
            <a:ext cx="7891272" cy="4599432"/>
          </a:xfrm>
          <a:prstGeom prst="roundRect">
            <a:avLst/>
          </a:prstGeom>
          <a:solidFill>
            <a:srgbClr val="172B43"/>
          </a:solidFill>
          <a:ln w="12700">
            <a:solidFill>
              <a:srgbClr val="E4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deck-run-fail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874519"/>
            <a:ext cx="781812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10896"/>
            <a:ext cx="80467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0">
                <a:solidFill>
                  <a:srgbClr val="356CD5"/>
                </a:solidFill>
                <a:latin typeface="Segoe UI"/>
              </a:rPr>
              <a:t>PRODUCT · 4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310896"/>
            <a:ext cx="59436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25" b="0">
                <a:solidFill>
                  <a:srgbClr val="356CD5"/>
                </a:solidFill>
                <a:latin typeface="Segoe UI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8992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000" b="0">
                <a:solidFill>
                  <a:srgbClr val="172B43"/>
                </a:solidFill>
                <a:latin typeface="Georgia"/>
              </a:rPr>
              <a:t>The agent explains the failure from actual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35024"/>
            <a:ext cx="1069848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5D6B7A"/>
                </a:solidFill>
                <a:latin typeface="Segoe UI"/>
              </a:rPr>
              <a:t>The model sees bounded Torch logs, step results, machine context, and artifact metadata—not SSH.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810512"/>
            <a:ext cx="10817352" cy="4599432"/>
          </a:xfrm>
          <a:prstGeom prst="roundRect">
            <a:avLst/>
          </a:prstGeom>
          <a:solidFill>
            <a:srgbClr val="172B43"/>
          </a:solidFill>
          <a:ln w="12700">
            <a:solidFill>
              <a:srgbClr val="E4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eck-agent-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47088"/>
            <a:ext cx="10744200" cy="4526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299</Words>
  <Application>Microsoft Office PowerPoint</Application>
  <DocSecurity>0</DocSecurity>
  <PresentationFormat>Widescreen</PresentationFormat>
  <Paragraphs>64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Calibri</vt:lpstr>
      <vt:lpstr>Georgia</vt:lpstr>
      <vt:lpstr>Segoe UI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Kol Bassuk</cp:lastModifiedBy>
  <cp:revision>1</cp:revision>
  <dcterms:created xsi:type="dcterms:W3CDTF">2026-09-07T19:55:52Z</dcterms:created>
  <dcterms:modified xsi:type="dcterms:W3CDTF">2026-09-07T23:39:04Z</dcterms:modified>
</cp:coreProperties>
</file>